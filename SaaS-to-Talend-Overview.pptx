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6.svg" ContentType="image/svg+xml"/>
  <Override PartName="/ppt/media/image18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</p:sldIdLst>
  <p:sldSz cx="12192000" cy="6858000"/>
  <p:notesSz cx="6858000" cy="9144000"/>
  <p:embeddedFontLst>
    <p:embeddedFont>
      <p:font typeface="Inter" panose="02000503000000020004" pitchFamily="2" charset="0"/>
      <p:regular r:id="rId4"/>
      <p:bold r:id="rId5"/>
    </p:embeddedFont>
    <p:embeddedFont>
      <p:font typeface="Inter Light" panose="02000503000000020004" pitchFamily="2" charset="0"/>
      <p:regular r:id="rId6"/>
    </p:embeddedFont>
    <p:embeddedFont>
      <p:font typeface="Inter SemiBold" panose="02000503000000020004" pitchFamily="2" charset="0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45"/>
    <a:srgbClr val="CCEDEC"/>
    <a:srgbClr val="CBD4D8"/>
    <a:srgbClr val="CCCFD5"/>
    <a:srgbClr val="D0E1E6"/>
    <a:srgbClr val="00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9"/>
    <p:restoredTop sz="94694"/>
  </p:normalViewPr>
  <p:slideViewPr>
    <p:cSldViewPr snapToGrid="0">
      <p:cViewPr varScale="1">
        <p:scale>
          <a:sx n="121" d="100"/>
          <a:sy n="121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520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customXml" Target="../customXml/item1.xml"/><Relationship Id="rId14" Type="http://schemas.openxmlformats.org/officeDocument/2006/relationships/customXml" Target="../customXml/item2.xml"/><Relationship Id="rId15" Type="http://schemas.openxmlformats.org/officeDocument/2006/relationships/customXml" Target="../customXml/item3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>
                <a:solidFill>
                  <a:srgbClr val="19416C"/>
                </a:solidFill>
              </a:rPr>
              <a:t>Auth methods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OAUTH2</c:v>
                </c:pt>
                <c:pt idx="1">
                  <c:v>API_KEY</c:v>
                </c:pt>
                <c:pt idx="2">
                  <c:v>BEARER_TOKEN</c:v>
                </c:pt>
                <c:pt idx="3">
                  <c:v>NO_AUTH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19</c:v>
                </c:pt>
                <c:pt idx="2">
                  <c:v>2</c:v>
                </c:pt>
                <c:pt idx="3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>
                <a:solidFill>
                  <a:srgbClr val="19416C"/>
                </a:solidFill>
              </a:rPr>
              <a:t>Pagination styles (per endpoint)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none</c:v>
                </c:pt>
                <c:pt idx="1">
                  <c:v>offset</c:v>
                </c:pt>
                <c:pt idx="2">
                  <c:v>cursor</c:v>
                </c:pt>
                <c:pt idx="3">
                  <c:v>page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11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B570B7-D69D-8DA2-462B-C878CD3E6A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E97F9-BA58-23B9-0185-F21B203B3B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43094-6F16-5A21-004B-F387B30DA7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65513-F6F0-B44D-87EC-52ED2F81C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9924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B17D6-D9A8-D847-8F91-B91B380ED254}" type="datetime1">
              <a:rPr lang="en-US" smtClean="0"/>
              <a:t>4/30/24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009A8-0C93-E046-9A12-3E9DA893E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375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5D63AA0-83D5-6AD3-2D92-4C78A0C59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34EEFA-9B63-F89B-7B17-B6F8912D3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F75CD2DC-51AA-9BE9-DE02-96565C25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4F53E-8603-BFDE-B2F4-554C1A4BA2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7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4B9C-16AD-6247-87EF-1591C4E80E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cover slide for analytics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45E54-7E07-7B9B-3D30-CE879F2ADA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6B88179-8E19-AEEA-7C12-2193874EC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52DBD6C-6393-4015-5BE5-E756963B7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1065577-E891-979D-F5BB-7C6B755F9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9C2FCF2-4E29-EED1-5D84-0DBE995AE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38" t="38097" r="41958" b="-1231"/>
          <a:stretch/>
        </p:blipFill>
        <p:spPr>
          <a:xfrm>
            <a:off x="6293224" y="1"/>
            <a:ext cx="589877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5AB4620-118E-B232-6E87-74157253DC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99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cover slide for data integration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BC3EC8C-B7FA-1224-8356-981FA134E3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87201CC-6F60-363F-A04E-409C2EEF4A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1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F5B6-794E-B35A-3AC9-931068BA4C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 cover slide for presentations that cover AI or ML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40B1CE-D8D7-DC6F-4390-31D68358C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D5FEE04-5C39-AEEF-053B-98E65F7B67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ABBDE62-C7C2-4B81-0FA5-34AB4C74A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8D6B784-4CBC-0915-02F6-2B8E4889D3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68682DB-2182-5096-B24B-89DA74D31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41" t="4866" r="33235" b="20027"/>
          <a:stretch/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F1CEE5F-2B81-6CF8-CDEA-8E9779FEB7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21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quality cover slide for data quality &amp; governance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19FDE6-D5B9-DB4F-2322-54FB6A1E0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431" t="14680" r="27945" b="33127"/>
          <a:stretch/>
        </p:blipFill>
        <p:spPr>
          <a:xfrm>
            <a:off x="6591300" y="0"/>
            <a:ext cx="56007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C3FE82-F676-639F-F2FD-868BBC2F56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1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73F66079-37BB-86DD-F9F3-FD9EF2D9DC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28AD91B8-3334-630B-BD66-9DDD0FB55C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</p:spTree>
    <p:extLst>
      <p:ext uri="{BB962C8B-B14F-4D97-AF65-F5344CB8AC3E}">
        <p14:creationId xmlns:p14="http://schemas.microsoft.com/office/powerpoint/2010/main" val="2716994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0" y="2584918"/>
            <a:ext cx="6396543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449D2D-1DE2-A12B-DF18-8F2A463EB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950" t="26968" r="7310" b="26967"/>
          <a:stretch/>
        </p:blipFill>
        <p:spPr>
          <a:xfrm flipH="1">
            <a:off x="7168924" y="1"/>
            <a:ext cx="5023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8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B7888F5-ED04-B7C0-428C-F88F2D92C7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23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F54775-4409-FA0E-1918-BDE657018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181" t="53449" r="4109" b="2530"/>
          <a:stretch/>
        </p:blipFill>
        <p:spPr>
          <a:xfrm>
            <a:off x="0" y="-1"/>
            <a:ext cx="6095999" cy="62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E1775-A956-58F2-BFA3-F17F4CF65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38580" b="13708"/>
          <a:stretch/>
        </p:blipFill>
        <p:spPr>
          <a:xfrm flipH="1">
            <a:off x="5005180" y="0"/>
            <a:ext cx="7186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72198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15754FC0-BCD4-FF89-6C43-EB0FB0D48C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8954" y="1084374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6589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56435AF-B0F2-25D6-2D1E-DA249F6CF9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953" y="3048765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49D86B6-48D2-C999-6FE3-1FA49C461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00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1" y="769276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7E926548-E618-967B-2757-DE80AC5DFE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08480" y="1081452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8480" y="274583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6D74E6FE-78EB-9A04-4843-7898E6204A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8479" y="305801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6A4C301D-28CA-8069-8CAF-248ADC83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084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B38840-7A94-7206-D1BC-A85087AFF8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1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69275"/>
            <a:ext cx="2533830" cy="918819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4334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0" y="759521"/>
            <a:ext cx="2533830" cy="928575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4322" y="2734335"/>
            <a:ext cx="2533830" cy="877624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1939B3B-09E2-4B85-5315-8626D54584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9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00C71-73F6-E27E-A89C-C30F052C6E6E}"/>
              </a:ext>
            </a:extLst>
          </p:cNvPr>
          <p:cNvSpPr/>
          <p:nvPr userDrawn="1"/>
        </p:nvSpPr>
        <p:spPr>
          <a:xfrm>
            <a:off x="0" y="0"/>
            <a:ext cx="28471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2CEF313-4E82-4E05-E919-45A6ADE24A6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33234" y="759522"/>
            <a:ext cx="7774996" cy="5338230"/>
          </a:xfrm>
        </p:spPr>
        <p:txBody>
          <a:bodyPr>
            <a:noAutofit/>
          </a:bodyPr>
          <a:lstStyle>
            <a:lvl1pPr>
              <a:buClr>
                <a:schemeClr val="bg2"/>
              </a:buCl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429545-9952-A80B-8C58-D61954A0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3" y="6097752"/>
            <a:ext cx="961259" cy="534032"/>
          </a:xfrm>
          <a:prstGeom prst="rect">
            <a:avLst/>
          </a:prstGeom>
        </p:spPr>
      </p:pic>
      <p:pic>
        <p:nvPicPr>
          <p:cNvPr id="4" name="Picture 3" descr="A green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CC815499-EBF4-4487-3194-C4879D961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5610112" cy="14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1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8485D64-40C9-27C1-86DF-DD3B4FC96C0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633233" y="759521"/>
            <a:ext cx="8108193" cy="4537308"/>
          </a:xfrm>
        </p:spPr>
        <p:txBody>
          <a:bodyPr anchor="t">
            <a:noAutofit/>
          </a:bodyPr>
          <a:lstStyle>
            <a:lvl1pPr marL="457200" indent="-4572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enter text</a:t>
            </a:r>
          </a:p>
        </p:txBody>
      </p:sp>
      <p:pic>
        <p:nvPicPr>
          <p:cNvPr id="19" name="Picture 1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B9A3DA7-829B-DEA1-21F1-97B56CCF9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F4C0CC8-EB18-86FF-6BE9-11ECCB4FF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043F06F-FF47-77D0-FD57-5A38BE173A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7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9DBBE2E-0998-460C-49E7-9B5206761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, Subtitle and Content w/ Contra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accent4"/>
              </a:buClr>
              <a:defRPr lang="en-US" dirty="0"/>
            </a:lvl1pPr>
            <a:lvl2pPr>
              <a:buClr>
                <a:schemeClr val="accent4"/>
              </a:buClr>
              <a:defRPr lang="en-US" dirty="0"/>
            </a:lvl2pPr>
            <a:lvl3pPr>
              <a:buClr>
                <a:schemeClr val="accent4"/>
              </a:buClr>
              <a:defRPr lang="en-US" dirty="0"/>
            </a:lvl3pPr>
            <a:lvl4pPr>
              <a:buClr>
                <a:schemeClr val="accent4"/>
              </a:buClr>
              <a:defRPr lang="en-US" dirty="0"/>
            </a:lvl4pPr>
            <a:lvl5pPr>
              <a:buClr>
                <a:schemeClr val="accent4"/>
              </a:buCl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CE353FC-885A-FC28-034A-8B470B1773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636"/>
            <a:ext cx="795418" cy="44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1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407221"/>
            <a:ext cx="11291736" cy="462544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9A7177F-EBD1-3FF1-CF25-25AAAD5CE0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44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1E6EAE-B346-57DA-21D4-F8B722AD8D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11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0"/>
            <a:ext cx="5315225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9" y="1836430"/>
            <a:ext cx="5314338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A green and black rectangle&#10;&#10;Description automatically generated">
            <a:extLst>
              <a:ext uri="{FF2B5EF4-FFF2-40B4-BE49-F238E27FC236}">
                <a16:creationId xmlns:a16="http://schemas.microsoft.com/office/drawing/2014/main" id="{861C90BE-518E-0670-C419-07FB292B2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9664" y="1"/>
            <a:ext cx="10662335" cy="3651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7796A00-1FEA-D008-F2F8-EABE69AE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34EB7B-3727-E8E9-13D8-1DF95DF5DFA9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D7EF99A-B069-A312-85ED-251326BBD9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EFED929-2619-23F4-D192-AB426C52C8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2C1EA0-A4D1-6CB5-F3AF-8E0CA04A18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1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1836430"/>
            <a:ext cx="5315224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8" y="1836430"/>
            <a:ext cx="5314337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4"/>
            <a:ext cx="11291735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1"/>
            <a:ext cx="11291735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C08B33AD-B899-6D5D-9216-5716B03CE7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B21125A-19CA-D45C-1A96-0CB53E5EF1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ADF283-8D12-2C14-DA6D-7EBF3C7CA6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13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1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E0266B-1A00-373C-6E5C-51A494B3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C8E2C4-1504-1B5F-4CD1-8404B92491C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5" name="Picture 14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1544D8E8-15D0-01C7-9EE4-8B406D01C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95728" y="122283"/>
            <a:ext cx="11000410" cy="557536"/>
          </a:xfrm>
          <a:prstGeom prst="rect">
            <a:avLst/>
          </a:prstGeom>
        </p:spPr>
      </p:pic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C89A1DB0-6328-ABC6-1D97-AE6EFEC98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743715-1667-FBBD-BB01-F8FA3AE050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90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0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7AE9BEE-6FA6-042F-21FB-80B2AC26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0EF14B6-C419-FDB0-239C-8C2A6D55A3D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068E4FA-B3AC-5F34-2714-E1E36D50D3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AAAAA52-8570-BB98-76E9-8BD279443D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30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D73-7A17-30B7-01A0-87E7709C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8" y="1325268"/>
            <a:ext cx="5316110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6201" y="1326918"/>
            <a:ext cx="5316114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2254413"/>
            <a:ext cx="5316109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6201" y="2251386"/>
            <a:ext cx="5316110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4" name="Picture 23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4CE69C7-AA0C-8790-C757-EBF9B7E1E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9710"/>
          </a:xfrm>
          <a:prstGeom prst="rect">
            <a:avLst/>
          </a:prstGeom>
        </p:spPr>
      </p:pic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E08B4A01-1405-E3F6-BED0-5A11FB573B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AFBE57-DC24-166B-BAEA-799A430246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62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6" y="1325268"/>
            <a:ext cx="3499197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6401" y="1326918"/>
            <a:ext cx="3499197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2257440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46402" y="225441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F1A17F7-5DB3-CC7E-7DBA-9D0964A8E5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2228" y="1325268"/>
            <a:ext cx="3499198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69D5E2C-5A7B-A57E-2536-0587472FD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3114" y="225276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green and black background&#10;&#10;Description automatically generated">
            <a:extLst>
              <a:ext uri="{FF2B5EF4-FFF2-40B4-BE49-F238E27FC236}">
                <a16:creationId xmlns:a16="http://schemas.microsoft.com/office/drawing/2014/main" id="{F3028C0F-81B5-D95E-D0DD-35A10BF144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23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1F72C7-7397-45FF-CD1D-D2925B2E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EE4CE6B4-AD4C-E75C-D588-124E938EDE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AA1343-69E4-00A1-B60F-C322C11BB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119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B63DB8-E6C7-12FC-DFB9-23C5DC7EF80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2809462"/>
            <a:ext cx="5315225" cy="32498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0B350EC-B356-456C-1E0F-62F053685A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38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1948070"/>
            <a:ext cx="5315225" cy="4111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46F02B-D6EC-D033-7D76-94E3759A1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487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BEC1529-1577-5B5F-A906-24D4A99D114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1959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722CC027-6B6E-85B0-A8C3-64578F0614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8697E31-C660-9F76-8A94-301A2694C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53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71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413845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601177"/>
                <a:ext cx="1463040" cy="13821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0353354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899257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8D21876-BA52-68C5-B349-CF8087B112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3EFA5F-3C5D-E81F-71B1-ECAE22A10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5610A0-F551-19F2-EECF-A7E853EED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89" y="1101188"/>
            <a:ext cx="3328576" cy="184920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12448B-DA87-1FE1-7CBF-F9F79437F7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329599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106C380-C29E-7390-E154-057377E5D8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90" y="1101186"/>
            <a:ext cx="3328576" cy="1849208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7FA24A-C52F-B256-7134-1984E46267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7CD7BB3-59A8-A18C-D485-85765FFC2A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1159057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 Appendi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A559919-4E94-0D09-D59B-D78DB4C2C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1664288" y="0"/>
            <a:ext cx="10527712" cy="6858000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8C28AA4-24E2-AEB6-7F25-DB964665F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188631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31712" y="1579791"/>
            <a:ext cx="3328576" cy="184920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FD58846-2F05-9B9A-3023-E997230525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287" y="4176711"/>
            <a:ext cx="5645426" cy="1101498"/>
          </a:xfrm>
        </p:spPr>
        <p:txBody>
          <a:bodyPr anchor="t">
            <a:noAutofit/>
          </a:bodyPr>
          <a:lstStyle>
            <a:lvl1pPr marL="0" indent="0" algn="ctr">
              <a:buNone/>
              <a:defRPr sz="3200" b="1" i="0">
                <a:solidFill>
                  <a:schemeClr val="accent4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92288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2775-04B1-042D-9E53-D0E611B5F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39" y="1847574"/>
            <a:ext cx="10776922" cy="4108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4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C6EB-E1EF-941D-4DCC-85515B9FC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8226" y="61899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E8039E6F-BAB9-860A-05B9-20EE9032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39" y="365125"/>
            <a:ext cx="107769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26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41" r:id="rId2"/>
    <p:sldLayoutId id="2147483729" r:id="rId3"/>
    <p:sldLayoutId id="2147483747" r:id="rId4"/>
    <p:sldLayoutId id="2147483728" r:id="rId5"/>
    <p:sldLayoutId id="2147483727" r:id="rId6"/>
    <p:sldLayoutId id="2147483720" r:id="rId7"/>
    <p:sldLayoutId id="2147483724" r:id="rId8"/>
    <p:sldLayoutId id="2147483702" r:id="rId9"/>
    <p:sldLayoutId id="2147483746" r:id="rId10"/>
    <p:sldLayoutId id="2147483726" r:id="rId11"/>
    <p:sldLayoutId id="2147483732" r:id="rId12"/>
    <p:sldLayoutId id="2147483668" r:id="rId13"/>
    <p:sldLayoutId id="2147483750" r:id="rId14"/>
    <p:sldLayoutId id="2147483669" r:id="rId15"/>
    <p:sldLayoutId id="2147483670" r:id="rId16"/>
    <p:sldLayoutId id="2147483733" r:id="rId17"/>
    <p:sldLayoutId id="2147483752" r:id="rId18"/>
    <p:sldLayoutId id="2147483751" r:id="rId19"/>
    <p:sldLayoutId id="2147483748" r:id="rId20"/>
    <p:sldLayoutId id="2147483743" r:id="rId21"/>
    <p:sldLayoutId id="2147483742" r:id="rId22"/>
    <p:sldLayoutId id="2147483705" r:id="rId23"/>
    <p:sldLayoutId id="2147483735" r:id="rId24"/>
    <p:sldLayoutId id="2147483683" r:id="rId25"/>
    <p:sldLayoutId id="2147483738" r:id="rId26"/>
    <p:sldLayoutId id="2147483715" r:id="rId27"/>
    <p:sldLayoutId id="2147483749" r:id="rId28"/>
    <p:sldLayoutId id="2147483660" r:id="rId29"/>
    <p:sldLayoutId id="2147483682" r:id="rId30"/>
    <p:sldLayoutId id="2147483676" r:id="rId31"/>
    <p:sldLayoutId id="2147483691" r:id="rId32"/>
    <p:sldLayoutId id="2147483675" r:id="rId33"/>
    <p:sldLayoutId id="2147483745" r:id="rId34"/>
    <p:sldLayoutId id="2147483689" r:id="rId35"/>
    <p:sldLayoutId id="2147483690" r:id="rId36"/>
    <p:sldLayoutId id="2147483754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Inter SemiBold" panose="02000503000000020004" pitchFamily="2" charset="0"/>
          <a:ea typeface="Inter SemiBold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SaaS to Talend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Job Generator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Convert any SaaS API, database, or dbt project into Talend Studio jobs.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One tool. Three sources. One Talend workspace ZIP.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73152" cy="201168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API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45659"/>
                </a:solidFill>
                <a:latin typeface="Inter"/>
              </a:rPr>
              <a:t>OpenAPI / Swagger / freeform docs.
One tHTTPClient job per GET endpoint.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9202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73152" cy="201168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94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Database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88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45659"/>
                </a:solidFill>
                <a:latin typeface="Inter"/>
              </a:rPr>
              <a:t>PostgreSQL, MySQL, Snowflake, BigQuery,
Redshift, MSSQL, Oracle, SQLite.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9202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920240"/>
            <a:ext cx="73152" cy="201168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194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dbt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45659"/>
                </a:solidFill>
                <a:latin typeface="Inter"/>
              </a:rPr>
              <a:t>ZIP / GitHub URL / pasted SQL.
One tDBRow job per model executes
the compiled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91672" cy="1828800"/>
          </a:xfrm>
          <a:prstGeom prst="rect">
            <a:avLst/>
          </a:prstGeom>
          <a:solidFill>
            <a:srgbClr val="F6F7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Output: a Talend Studio 8.0.1-compatible workspace 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talend.project + process/*.item + .properties + required empty dirs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Every credential / tenant URL emitted as context.* variable — no hardcoded secrets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22 standard context variables across API, OAuth2, database, Qlik Cloud, output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Importable directly via File → Import items in Talend Open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React + Vite (UI)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Wizards: API / Database / dbt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ReactFlow visual job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34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Settings · Help ·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Tailwind + framer-motion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9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Served by Express in prod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Express + SQLite (port 3000)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AI proxy (Ollama/OpenAI/Anthropic)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41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dbt parser (ZIP/GitHub/SQL)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34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Project + job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26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Export bridge → Java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19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Multer · adm-zip · sql.js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Java Spring Boot (port 8081)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OpenAPI / Swagger parser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41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JDBC schema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34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Talend XMI XML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26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Workspace ZIP exporter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19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swagger-parser · dom4j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45659"/>
                </a:solidFill>
                <a:latin typeface="Inter"/>
              </a:rPr>
              <a:t>Request flow:  React → Express (port 3000) → Java engine (port 8081) → Talend XML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26280"/>
            <a:ext cx="11247120" cy="1783080"/>
          </a:xfrm>
          <a:prstGeom prst="rect">
            <a:avLst/>
          </a:prstGeom>
          <a:solidFill>
            <a:srgbClr val="F6F7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Single Docker image — multi-stage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Stage 1: Maven 3.9 + Eclipse Temurin 17 → engine.jar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Stage 2: Node 20 Alpine → React production bundle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Stage 3: Server deps (sql.js, adm-zip, axios, multer, …)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Final: Eclipse Temurin JRE 17 + Node 20 + tini supervisor — port 3000 exposed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wizards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Same UX pattern across all source types: pick → configure → generate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3840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5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9845"/>
                </a:solidFill>
                <a:latin typeface="Inter"/>
              </a:rPr>
              <a:t>API → REST jobs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59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973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URL, paste OpenAPI/Swagger, or pick from
28 quick-start templates.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7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0098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644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38727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Engine auto-detects pagination, auth,
records_path, primary keys.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05655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4223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79975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tHTTPClient → tExtractJSONFields →
tLogRow + tFileOutputJSON per endpoint.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74519"/>
            <a:ext cx="3840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6595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6580"/>
                </a:solidFill>
                <a:latin typeface="Inter"/>
              </a:rPr>
              <a:t>Database → ETL jobs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2423159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45973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231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69747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8 dialects, dialect-specific fields
(Snowflake warehouse, BigQuery project).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3264407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30098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2644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538727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JDBC DatabaseMetaData scan →
tables + columns + PKs.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4105655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14223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10565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379975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Database / JSON file / Log row
(per-table component picked by dialect).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4946903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983479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946903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221223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tXxxInput → tXxxOutput / tFileOutputJSON / tLogRow.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874519"/>
            <a:ext cx="36576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96595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9416C"/>
                </a:solidFill>
                <a:latin typeface="Inter"/>
              </a:rPr>
              <a:t>dbt → Talend jobs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423159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45973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42315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69747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GitHub URL, ZIP upload, or paste SQL
including dbt_project.yml.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264407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30098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6440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538727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Parse refs(), source(), config(),
show layer badges + SQL preview.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4105655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14223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105655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379975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Pick warehouse where SQL will run
(prefilled from profiles.yml).</a:t>
            </a:r>
          </a:p>
        </p:txBody>
      </p:sp>
      <p:sp>
        <p:nvSpPr>
          <p:cNvPr id="51" name="Oval 50"/>
          <p:cNvSpPr/>
          <p:nvPr/>
        </p:nvSpPr>
        <p:spPr>
          <a:xfrm>
            <a:off x="8412480" y="4946903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983479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94690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Generate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221223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tXxxRow per model — runs the literal
compiled SQL against the warehouse.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HTTPClient component (TaCoKit)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We emit the same component Talend Studio 8.0.1 ships natively — not the deprecated tRESTClient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73152" cy="457200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Generated pipeline per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59"/>
            <a:ext cx="2286000" cy="54864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tHTTPClient_1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HTTPClient 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83463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45659"/>
                </a:solidFill>
                <a:latin typeface="Inte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651759"/>
            <a:ext cx="2286000" cy="54864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tExtractJSONFields_1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v0.102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7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45659"/>
                </a:solidFill>
                <a:latin typeface="Inter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657599"/>
            <a:ext cx="2286000" cy="54864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70331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tLogRow_1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93191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console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34339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45659"/>
                </a:solidFill>
                <a:latin typeface="Inter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617719"/>
            <a:ext cx="2286000" cy="548640"/>
          </a:xfrm>
          <a:prstGeom prst="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66343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tFileOutputJSON_1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89203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JSON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45659"/>
                </a:solidFill>
                <a:latin typeface="Inter"/>
              </a:rPr>
              <a:t>All connectors are FLOW (HTTPClient emits row1 → row2 → row3).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874519"/>
            <a:ext cx="73152" cy="4572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TaCoKit parameter set (highlights)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14599"/>
            <a:ext cx="50292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componentName="HTTPClient" componentVersion="5"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TACOKIT_COMPONENT_ID = base64("http-studio#HTTP#Client")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configuration.dataset.datastore.base = context.API_BASE_URL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configuration.dataset.datastore.authentication.type ∈ {None, Basic, APIKey, OAuth20}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configuration.dataset.methodType = GET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configuration.dataset.resource = "/path"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configuration.dataset.format = RAW_TEXT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configuration.dataset.returnedContent = BODY_ONLY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configuration.httpVersion = HTTP_1_1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configuration.dieOnError = true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Output column: body (id_String) — fed into tExtractJSONFields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50-SaaS smoke test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End-to-end discovery + generate against real public OpenAPI specs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Specs fetched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43/50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from APIs.guru + Petstore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Discoveries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39/50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78% 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Endpoints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918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across all GET list endpoints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783080"/>
            <a:ext cx="2651760" cy="73152"/>
          </a:xfrm>
          <a:prstGeom prst="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Talend jobs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407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capped at 30 per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40"/>
            <a:ext cx="11247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91440" cy="292608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All 4 pagination styles encountered: cursor, offset, page, none — handled deterministically by Java engine.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4 distinct auth methods detected automatically: OAUTH2, API_KEY, BEARER_TOKEN, NO_AUTH (zero false positives).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Discoveries returning 0 endpoints (e.g. webhooks-only specs) are correct — engine intentionally skips POST/PUT/DELETE.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Largest spec processed: Adyen Management at 914 KB → 41 endpoints in 3.8 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Average end-to-end latency under 1.2 s per spec (network + parse + generate).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No LLM invocations — every successful spec was handled by the deterministic Java parser.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 &amp; pagination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5486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463040"/>
          <a:ext cx="548640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Per-API results — APIs 1–25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65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4356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0175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356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KB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356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417320"/>
            <a:ext cx="11887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435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417320"/>
            <a:ext cx="21031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4356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Pagination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417320"/>
            <a:ext cx="2651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356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1848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3677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63677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Petstore (OpenAPI 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16367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16367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16367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63677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81965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18379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183794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183794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3288" y="18379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18379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183794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02082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203911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20391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Payments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448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20391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20391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2008" y="20391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5128" y="20391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22199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" y="224028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22402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Payouts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448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4568" y="22402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320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2240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22008" y="22402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224028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42316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" y="244144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" y="24414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Recurring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2441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320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3288" y="24414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22008" y="244144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5128" y="24414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2432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" y="264261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" y="26426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Management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448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4568" y="26426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320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33288" y="26426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26426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5128" y="264261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282549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1208" y="284378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" y="28437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BinLookup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0448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4568" y="28437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320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28437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22008" y="284378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25128" y="28437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302666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304495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" y="3044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Asana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448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591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44568" y="3044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9320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33288" y="3044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22008" y="30449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25128" y="30449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22783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1208" y="3246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" y="32461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Box Platform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448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1418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44568" y="32461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9320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33288" y="32461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22008" y="32461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25128" y="32461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342900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" y="344728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6968" y="344728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DigitalOcean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0448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1864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44568" y="3447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9320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33288" y="3447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BEARER_TKN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22008" y="344728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cursor,none,offset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25128" y="344728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63016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1208" y="364845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6968" y="364845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DocuSign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0448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3603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44568" y="36484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9320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33288" y="36484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22008" y="364845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25128" y="364845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500: {'timestamp': '2026-04-3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383133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1208" y="384962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968" y="384962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Flickr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0448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44568" y="38496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9320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33288" y="38496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22008" y="384962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none,page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25128" y="384962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" y="403250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21208" y="405079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6968" y="40507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Postman API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0448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280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44568" y="40507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9320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33288" y="40507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22008" y="40507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25128" y="4050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423367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21208" y="42519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6968" y="42519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GitLab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0448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44568" y="4251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9320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733288" y="4251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22008" y="42519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25128" y="425196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400: {'error': 'Failed to par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57200" y="443484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21208" y="44531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6968" y="44531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Instagram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0448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44568" y="44531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9320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33288" y="44531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22008" y="44531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25128" y="44531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400: {'error': 'Failed to par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463600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1208" y="465429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86968" y="465429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Linode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0448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1150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44568" y="46542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9320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733288" y="4654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22008" y="465429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none,page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25128" y="465429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483717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21208" y="485546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86968" y="485546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Medium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0448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44568" y="48554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9320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733288" y="48554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22008" y="485546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025128" y="485546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7200" y="503834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21208" y="505663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86968" y="50566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Cisco Meraki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90448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847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44568" y="505663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125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09320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733288" y="5056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922008" y="50566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25128" y="50566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7200" y="523951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21208" y="525780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86968" y="52578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Netlify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0448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129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44568" y="5257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09320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733288" y="52578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22008" y="52578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025128" y="525780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400: {'error': 'Failed to par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7200" y="544068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21208" y="54589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86968" y="54589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Notion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0448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477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44568" y="54589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09320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733288" y="5458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22008" y="5458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025128" y="54589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57200" y="564184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21208" y="566013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86968" y="5660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Okta Users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90448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18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544568" y="56601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9320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733288" y="566013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922008" y="566013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025128" y="566013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57200" y="584301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21208" y="586130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86968" y="586130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Domains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90448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402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44568" y="58613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9320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733288" y="58613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922008" y="58613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025128" y="586130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57200" y="604418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21208" y="60624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23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86968" y="606247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Orders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90448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544568" y="6062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09320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733288" y="60624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922008" y="60624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offset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25128" y="60624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57200" y="624535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21208" y="62636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86968" y="62636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Subscriptions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90448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49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544568" y="626364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09320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733288" y="62636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922008" y="6263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025128" y="62636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57200" y="644652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21208" y="64648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86968" y="64648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Shoppers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90448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44568" y="64648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09320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733288" y="64648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922008" y="64648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025128" y="64648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Per-API results — APIs 26–50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65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4356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0175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356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KB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356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417320"/>
            <a:ext cx="11887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435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417320"/>
            <a:ext cx="21031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4356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Pagination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417320"/>
            <a:ext cx="2651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356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1848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3677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63677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Aftermarket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16367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16367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16367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63677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81965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18379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183794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Certificates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183794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3288" y="18379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18379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183794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02082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203911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20391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SendGrid Email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448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1515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20391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20391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2008" y="20391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cursor,none,offset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5128" y="20391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22199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" y="224028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22402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Slack Web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448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4568" y="22402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320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2240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22008" y="22402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cursor,none,page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224028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42316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" y="244144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" y="24414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SoundCloud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2441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320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3288" y="24414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22008" y="244144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5128" y="24414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2432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" y="264261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" y="26426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Spotify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448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4568" y="26426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320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33288" y="26426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26426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5128" y="264261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282549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1208" y="284378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" y="28437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Square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0448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4568" y="28437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320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28437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22008" y="284378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25128" y="28437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302666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304495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" y="3044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Stripe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448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44568" y="3044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9320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33288" y="3044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22008" y="30449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25128" y="30449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ValueError: spec exceeds 400000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22783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1208" y="3246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" y="32461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Twilio Messaging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448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44568" y="32461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9320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33288" y="32461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22008" y="32461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25128" y="32461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342900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" y="344728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6968" y="344728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Vimeo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0448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973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44568" y="3447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9320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33288" y="3447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BEARER_TKN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22008" y="344728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none,offset,page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25128" y="344728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63016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1208" y="364845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6968" y="364845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Walmart Marketplace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0448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44568" y="36484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9320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33288" y="36484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22008" y="364845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25128" y="364845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383133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1208" y="384962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968" y="384962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Xero Accounting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0448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44568" y="38496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9320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33288" y="38496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22008" y="384962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25128" y="384962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" y="403250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21208" y="405079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6968" y="40507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Tradier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0448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44568" y="40507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9320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33288" y="40507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22008" y="40507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25128" y="4050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423367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21208" y="42519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6968" y="42519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Datumbox ML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0448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44568" y="4251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9320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733288" y="4251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22008" y="42519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25128" y="425196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57200" y="443484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21208" y="44531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6968" y="44531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Account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0448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207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44568" y="44531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9320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33288" y="44531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22008" y="44531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25128" y="44531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463600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1208" y="465429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86968" y="465429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Fund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0448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44568" y="46542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9320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733288" y="4654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22008" y="465429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25128" y="465429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483717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21208" y="485546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86968" y="485546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Hop (Onboarding)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0448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44568" y="48554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9320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733288" y="48554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22008" y="485546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025128" y="485546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7200" y="503834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21208" y="505663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86968" y="50566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Legal Entity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90448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44568" y="505663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09320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733288" y="5056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922008" y="50566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25128" y="50566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7200" y="523951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21208" y="525780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86968" y="52578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Transfers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0448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44568" y="5257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09320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733288" y="52578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22008" y="52578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025128" y="525780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7200" y="544068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21208" y="54589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86968" y="54589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Stored Value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0448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45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44568" y="54589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09320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733288" y="5458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22008" y="5458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025128" y="54589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57200" y="564184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21208" y="566013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46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86968" y="5660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Balance Control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90448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544568" y="56601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9320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733288" y="566013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922008" y="566013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025128" y="566013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57200" y="584301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21208" y="586130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47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86968" y="586130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Balance Platform Cfg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90448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304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44568" y="58613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9320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733288" y="58613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922008" y="58613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025128" y="586130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57200" y="604418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21208" y="60624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48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86968" y="606247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Test Cards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90448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544568" y="6062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09320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733288" y="60624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922008" y="60624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25128" y="60624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57200" y="624535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21208" y="62636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49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86968" y="62636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Slack AI Plugin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90448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544568" y="626364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09320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733288" y="62636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922008" y="6263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025128" y="62636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57200" y="644652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21208" y="64648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86968" y="64648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Agreements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90448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44568" y="64648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09320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733288" y="64648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922008" y="64648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025128" y="64648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fallback (only when needed)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Verbose ~3000-token prompt, Qwen-tuned for small local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73152" cy="457200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When the LLM is invoked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599"/>
            <a:ext cx="50292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Never — for valid OpenAPI/Swagger specs (deterministic parser handles them)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Never — for specs with 0 GET list endpoints (returns clear error instead)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Only — for freeform HTML/markdown API docs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78% of the 50-SaaS test ran with zero LLM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73152" cy="4572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Qwen / small-LLM optimizations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599"/>
            <a:ext cx="50292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/no_think suffix on Qwen3 — skips 3000+ reasoning tokens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format: "json" with temperature 0.1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num_ctx 8192, num_predict 4096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keep_alive 5m — model stays resident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Strip stray &lt;think&gt; blocks from response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3000-token prompt with 8 worked examples + 11 failure modes + 10 edge cases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Long prompts produce CORRECT JSON one-shot; short prompts retry 2-3×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Single Docker image, healthy on first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1247120" cy="201168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7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Quick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59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0CFC9"/>
                </a:solidFill>
                <a:latin typeface="Consolas"/>
              </a:rPr>
              <a:t>$ docker build -t saas-to-talend .</a:t>
            </a:r>
          </a:p>
          <a:p>
            <a:r>
              <a:rPr sz="1300">
                <a:solidFill>
                  <a:srgbClr val="10CFC9"/>
                </a:solidFill>
                <a:latin typeface="Consolas"/>
              </a:rPr>
              <a:t>$ docker run -d -p 3000:3000 -v saas-talend-data:/opt/app/server/data saas-to-talend</a:t>
            </a:r>
          </a:p>
          <a:p>
            <a:r>
              <a:rPr sz="1300">
                <a:solidFill>
                  <a:srgbClr val="10CFC9"/>
                </a:solidFill>
                <a:latin typeface="Consolas"/>
              </a:rPr>
              <a:t>$ open http://localhost:3000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160520"/>
            <a:ext cx="73152" cy="219456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9416C"/>
                </a:solidFill>
                <a:latin typeface="Inter"/>
              </a:rPr>
              <a:t>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github.com/robertschoenfeldqlik/saas_to_talend_utility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Branch: main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Java + Express + React in one repo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Multi-stage Dockerfile + docker-compose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160520"/>
            <a:ext cx="73152" cy="219456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9416C"/>
                </a:solidFill>
                <a:latin typeface="Inter"/>
              </a:rPr>
              <a:t>Container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0916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Image size: ~520 MB (Temurin JRE + Node + app)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Cold start to healthy: ~12 s on a laptop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Both /api/health + /api/engine/health probes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Volume persists SQLite + AI settings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tini supervisor restarts on child death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lik Color Palette">
      <a:dk1>
        <a:srgbClr val="545659"/>
      </a:dk1>
      <a:lt1>
        <a:srgbClr val="FFFFFF"/>
      </a:lt1>
      <a:dk2>
        <a:srgbClr val="19416C"/>
      </a:dk2>
      <a:lt2>
        <a:srgbClr val="F6F7F8"/>
      </a:lt2>
      <a:accent1>
        <a:srgbClr val="009845"/>
      </a:accent1>
      <a:accent2>
        <a:srgbClr val="19416C"/>
      </a:accent2>
      <a:accent3>
        <a:srgbClr val="006580"/>
      </a:accent3>
      <a:accent4>
        <a:srgbClr val="10CFC9"/>
      </a:accent4>
      <a:accent5>
        <a:srgbClr val="93579C"/>
      </a:accent5>
      <a:accent6>
        <a:srgbClr val="A9B3B6"/>
      </a:accent6>
      <a:hlink>
        <a:srgbClr val="19406C"/>
      </a:hlink>
      <a:folHlink>
        <a:srgbClr val="2D3543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Qlik Powerpoint_INSTRUCTIONS" id="{C118317D-9FB4-8C45-8421-2F4B74AF6920}" vid="{2874E7B9-0DC7-9C48-8302-25758D8B1A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27728134D8E438DB24F119626A238" ma:contentTypeVersion="14" ma:contentTypeDescription="Create a new document." ma:contentTypeScope="" ma:versionID="15b1c6c9529409184464fb081f076c90">
  <xsd:schema xmlns:xsd="http://www.w3.org/2001/XMLSchema" xmlns:xs="http://www.w3.org/2001/XMLSchema" xmlns:p="http://schemas.microsoft.com/office/2006/metadata/properties" xmlns:ns2="29080d49-e7be-4021-9aa2-ece0e2248fc1" xmlns:ns3="daa02f57-d242-484a-912c-78bcbabd3955" targetNamespace="http://schemas.microsoft.com/office/2006/metadata/properties" ma:root="true" ma:fieldsID="73ad68e9809497096c217967fc7c474d" ns2:_="" ns3:_="">
    <xsd:import namespace="29080d49-e7be-4021-9aa2-ece0e2248fc1"/>
    <xsd:import namespace="daa02f57-d242-484a-912c-78bcbabd3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80d49-e7be-4021-9aa2-ece0e2248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23ae771-9a71-45a4-863b-ab0f59569b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02f57-d242-484a-912c-78bcbabd395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33981fe-ff8f-4cec-a916-8d5a12fc0ecc}" ma:internalName="TaxCatchAll" ma:showField="CatchAllData" ma:web="daa02f57-d242-484a-912c-78bcbabd3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080d49-e7be-4021-9aa2-ece0e2248fc1">
      <Terms xmlns="http://schemas.microsoft.com/office/infopath/2007/PartnerControls"/>
    </lcf76f155ced4ddcb4097134ff3c332f>
    <TaxCatchAll xmlns="daa02f57-d242-484a-912c-78bcbabd3955" xsi:nil="true"/>
  </documentManagement>
</p:properties>
</file>

<file path=customXml/itemProps1.xml><?xml version="1.0" encoding="utf-8"?>
<ds:datastoreItem xmlns:ds="http://schemas.openxmlformats.org/officeDocument/2006/customXml" ds:itemID="{27B402B2-5E60-49FD-87AE-AA5D925E6535}"/>
</file>

<file path=customXml/itemProps2.xml><?xml version="1.0" encoding="utf-8"?>
<ds:datastoreItem xmlns:ds="http://schemas.openxmlformats.org/officeDocument/2006/customXml" ds:itemID="{24F34C0B-EB86-4B76-A0DD-34D59967CAC8}"/>
</file>

<file path=customXml/itemProps3.xml><?xml version="1.0" encoding="utf-8"?>
<ds:datastoreItem xmlns:ds="http://schemas.openxmlformats.org/officeDocument/2006/customXml" ds:itemID="{8BB892D9-32AE-49BC-8B71-5E32C1BA721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Courier New</vt:lpstr>
      <vt:lpstr>Inter SemiBold</vt:lpstr>
      <vt:lpstr>Inter Light</vt:lpstr>
      <vt:lpstr>Arial</vt:lpstr>
      <vt:lpstr>Arial</vt:lpstr>
      <vt:lpstr>Calibri</vt:lpstr>
      <vt:lpstr>Inter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Swenson,Emily Claire</dc:creator>
  <cp:keywords/>
  <dc:description/>
  <cp:lastModifiedBy>Nicole Boyd</cp:lastModifiedBy>
  <cp:revision>61</cp:revision>
  <dcterms:created xsi:type="dcterms:W3CDTF">2023-12-06T17:57:31Z</dcterms:created>
  <dcterms:modified xsi:type="dcterms:W3CDTF">2024-04-30T12:00:03Z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0x0101001F427728134D8E438DB24F119626A238</vt:lpwstr>
  </property>
</Properties>
</file>